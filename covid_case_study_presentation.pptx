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3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93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owid-covid-data.csv
- User-uploaded covid19-case-study.ipynb
- User-provided dashboard reference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owid-covid-data.csv
- User-uploaded covid19-case-study.ipynb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owid-covid-data.csv
- User-uploaded covid19-case-study.ipynb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owid-covid-data.csv
- User-uploaded covid19-case-study.ipynb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owid-covid-data.csv
- User-uploaded covid19-case-study.ipynb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owid-covid-data.csv
- User-uploaded covid19-case-study.ipynb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owid-covid-data.csv
- User-uploaded covid19-case-study.ipynb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owid-covid-data.csv
- User-uploaded covid19-case-study.ipynb
- User-provided dashboard reference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510528"/>
            <a:ext cx="11311128" cy="9144"/>
          </a:xfrm>
          <a:prstGeom prst="rect">
            <a:avLst/>
          </a:prstGeom>
          <a:solidFill>
            <a:srgbClr val="223455"/>
          </a:solidFill>
          <a:ln w="12700">
            <a:solidFill>
              <a:srgbClr val="2234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>
              <a:solidFill>
                <a:srgbClr val="7F91B8"/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chemeClr val="dk1">
                <a:satMod val="105000"/>
                <a:tint val="67000"/>
                <a:lumMod val="85000"/>
                <a:lumOff val="15000"/>
                <a:alpha val="88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 up of a blue circle&#10;&#10;AI-generated content may be incorrect.">
            <a:extLst>
              <a:ext uri="{FF2B5EF4-FFF2-40B4-BE49-F238E27FC236}">
                <a16:creationId xmlns:a16="http://schemas.microsoft.com/office/drawing/2014/main" id="{88A06452-6C11-0867-2201-686E1410D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01168"/>
            <a:ext cx="12353731" cy="6948974"/>
          </a:xfrm>
          <a:prstGeom prst="rect">
            <a:avLst/>
          </a:prstGeom>
        </p:spPr>
      </p:pic>
      <p:pic>
        <p:nvPicPr>
          <p:cNvPr id="2" name="Image 0" descr="/mnt/data/covid_presentation_assets/dashboard_dark.png" hidden="1"/>
          <p:cNvPicPr>
            <a:picLocks noChangeAspect="1"/>
          </p:cNvPicPr>
          <p:nvPr/>
        </p:nvPicPr>
        <p:blipFill>
          <a:blip r:embed="rId4"/>
          <a:srcRect l="14340" r="1434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B88C4C2-AC7B-D2B7-5ED4-C3F2F18D20FA}"/>
              </a:ext>
            </a:extLst>
          </p:cNvPr>
          <p:cNvSpPr/>
          <p:nvPr/>
        </p:nvSpPr>
        <p:spPr>
          <a:xfrm>
            <a:off x="-1" y="201168"/>
            <a:ext cx="12353729" cy="6948974"/>
          </a:xfrm>
          <a:prstGeom prst="rect">
            <a:avLst/>
          </a:prstGeom>
          <a:solidFill>
            <a:schemeClr val="tx1">
              <a:alpha val="3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3" name="Shape 0"/>
          <p:cNvSpPr/>
          <p:nvPr/>
        </p:nvSpPr>
        <p:spPr>
          <a:xfrm>
            <a:off x="-1" y="36576"/>
            <a:ext cx="12353729" cy="164592"/>
          </a:xfrm>
          <a:prstGeom prst="rect">
            <a:avLst/>
          </a:prstGeom>
          <a:solidFill>
            <a:srgbClr val="1F6EB6"/>
          </a:solidFill>
          <a:ln w="12700">
            <a:solidFill>
              <a:srgbClr val="1F6EB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187952"/>
            <a:ext cx="6492240" cy="658368"/>
          </a:xfrm>
          <a:prstGeom prst="rect">
            <a:avLst/>
          </a:prstGeom>
          <a:noFill/>
          <a:ln/>
          <a:effectLst>
            <a:outerShdw blurRad="12700" dist="1905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COVID-19 Global Case Study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76656" y="486460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Storyline built from the OWID dataset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76656" y="5230368"/>
            <a:ext cx="1737360" cy="301752"/>
          </a:xfrm>
          <a:prstGeom prst="roundRect">
            <a:avLst>
              <a:gd name="adj" fmla="val 36364"/>
            </a:avLst>
          </a:prstGeom>
          <a:solidFill>
            <a:srgbClr val="FF6A5A"/>
          </a:solidFill>
          <a:ln w="12700">
            <a:solidFill>
              <a:srgbClr val="FF6A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24865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through 2024-08-14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42032" y="5230368"/>
            <a:ext cx="1234440" cy="301752"/>
          </a:xfrm>
          <a:prstGeom prst="roundRect">
            <a:avLst>
              <a:gd name="adj" fmla="val 36364"/>
            </a:avLst>
          </a:prstGeom>
          <a:solidFill>
            <a:srgbClr val="5FA8FF"/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42032" y="52486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243 countries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13632" y="5230368"/>
            <a:ext cx="1188720" cy="301752"/>
          </a:xfrm>
          <a:prstGeom prst="roundRect">
            <a:avLst>
              <a:gd name="adj" fmla="val 36364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13632" y="52486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67 variables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76656" y="565099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Prepared as a presentation-ready summary of global burden, geography, income segmentation, and statistical patterns.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uploaded analysis points to a large, uneven, and structurally different global burden.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55680" cy="0"/>
          </a:xfrm>
          <a:prstGeom prst="line">
            <a:avLst/>
          </a:prstGeom>
          <a:noFill/>
          <a:ln w="12700">
            <a:solidFill>
              <a:srgbClr val="223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25296"/>
            <a:ext cx="2697480" cy="1024128"/>
          </a:xfrm>
          <a:prstGeom prst="roundRect">
            <a:avLst>
              <a:gd name="adj" fmla="val 12500"/>
            </a:avLst>
          </a:prstGeom>
          <a:solidFill>
            <a:srgbClr val="0D1526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38988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D3"/>
                </a:solidFill>
              </a:rPr>
              <a:t>Global confirmed cases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" y="166420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A5A"/>
                </a:solidFill>
              </a:rPr>
              <a:t>775.9M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94944" y="2048256"/>
            <a:ext cx="2368296" cy="0"/>
          </a:xfrm>
          <a:prstGeom prst="line">
            <a:avLst/>
          </a:prstGeom>
          <a:noFill/>
          <a:ln w="25400">
            <a:solidFill>
              <a:srgbClr val="FF6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225296"/>
            <a:ext cx="2697480" cy="1024128"/>
          </a:xfrm>
          <a:prstGeom prst="roundRect">
            <a:avLst>
              <a:gd name="adj" fmla="val 12500"/>
            </a:avLst>
          </a:prstGeom>
          <a:solidFill>
            <a:srgbClr val="0D1526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38988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D3"/>
                </a:solidFill>
              </a:rPr>
              <a:t>Global deaths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66420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69"/>
                </a:solidFill>
              </a:rPr>
              <a:t>7.1M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20440" y="2048256"/>
            <a:ext cx="2368296" cy="0"/>
          </a:xfrm>
          <a:prstGeom prst="line">
            <a:avLst/>
          </a:prstGeom>
          <a:noFill/>
          <a:ln w="25400">
            <a:solidFill>
              <a:srgbClr val="FF8C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1225296"/>
            <a:ext cx="2697480" cy="1024128"/>
          </a:xfrm>
          <a:prstGeom prst="roundRect">
            <a:avLst>
              <a:gd name="adj" fmla="val 12500"/>
            </a:avLst>
          </a:prstGeom>
          <a:solidFill>
            <a:srgbClr val="0D1526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138988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D3"/>
                </a:solidFill>
              </a:rPr>
              <a:t>Cases / world population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45936" y="166420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A8FF"/>
                </a:solidFill>
              </a:rPr>
              <a:t>9.7%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45936" y="2048256"/>
            <a:ext cx="2368296" cy="0"/>
          </a:xfrm>
          <a:prstGeom prst="line">
            <a:avLst/>
          </a:prstGeom>
          <a:noFill/>
          <a:ln w="25400">
            <a:solidFill>
              <a:srgbClr val="5FA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1225296"/>
            <a:ext cx="2697480" cy="1024128"/>
          </a:xfrm>
          <a:prstGeom prst="roundRect">
            <a:avLst>
              <a:gd name="adj" fmla="val 12500"/>
            </a:avLst>
          </a:prstGeom>
          <a:solidFill>
            <a:srgbClr val="0D1526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138988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D3"/>
                </a:solidFill>
              </a:rPr>
              <a:t>Peak reported daily new cases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71432" y="166420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703"/>
                </a:solidFill>
              </a:rPr>
              <a:t>44.2M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71432" y="2048256"/>
            <a:ext cx="2368296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487168"/>
            <a:ext cx="4096512" cy="3246120"/>
          </a:xfrm>
          <a:prstGeom prst="roundRect">
            <a:avLst>
              <a:gd name="adj" fmla="val 3944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7066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</a:rPr>
              <a:t>What matters most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6384" y="30906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F"/>
                </a:solidFill>
              </a:rPr>
              <a:t>• Confirmed cases peaked at 44.2M on 2022-12-25.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" y="3657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F"/>
                </a:solidFill>
              </a:rPr>
              <a:t>• Asia carried the largest cumulative case burden at 301.5M.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" y="42245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F"/>
                </a:solidFill>
              </a:rPr>
              <a:t>• Africa showed the highest mortality rate (1.97%), while Oceania stayed lowest (0.22%).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" y="47914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F"/>
                </a:solidFill>
              </a:rPr>
              <a:t>• High-income groups accumulated 429.0M cases, far above low-income groups at 1.9M.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2487168"/>
            <a:ext cx="6812280" cy="3456432"/>
          </a:xfrm>
          <a:prstGeom prst="roundRect">
            <a:avLst>
              <a:gd name="adj" fmla="val 3704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pic>
        <p:nvPicPr>
          <p:cNvPr id="28" name="Image 0" descr="/mnt/data/covid_presentation_assets/global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343" y="2670048"/>
            <a:ext cx="5601377" cy="3127248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scope and analysis logic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follows the structure of your Kaggle notebook: understand → aggregate → visualize → test.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55680" cy="0"/>
          </a:xfrm>
          <a:prstGeom prst="line">
            <a:avLst/>
          </a:prstGeom>
          <a:noFill/>
          <a:ln w="12700">
            <a:solidFill>
              <a:srgbClr val="223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25296"/>
            <a:ext cx="2880360" cy="4663440"/>
          </a:xfrm>
          <a:prstGeom prst="roundRect">
            <a:avLst>
              <a:gd name="adj" fmla="val 4444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</a:rPr>
              <a:t>Dataset footprint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1792224"/>
            <a:ext cx="1170432" cy="914400"/>
          </a:xfrm>
          <a:prstGeom prst="roundRect">
            <a:avLst>
              <a:gd name="adj" fmla="val 14000"/>
            </a:avLst>
          </a:prstGeom>
          <a:solidFill>
            <a:srgbClr val="0D1526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5681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D3"/>
                </a:solidFill>
              </a:rPr>
              <a:t>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23113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A8FF"/>
                </a:solidFill>
              </a:rPr>
              <a:t>429K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505456"/>
            <a:ext cx="841248" cy="0"/>
          </a:xfrm>
          <a:prstGeom prst="line">
            <a:avLst/>
          </a:prstGeom>
          <a:noFill/>
          <a:ln w="25400">
            <a:solidFill>
              <a:srgbClr val="5FA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792224"/>
            <a:ext cx="1170432" cy="914400"/>
          </a:xfrm>
          <a:prstGeom prst="roundRect">
            <a:avLst>
              <a:gd name="adj" fmla="val 14000"/>
            </a:avLst>
          </a:prstGeom>
          <a:solidFill>
            <a:srgbClr val="0D1526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95681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D3"/>
                </a:solidFill>
              </a:rPr>
              <a:t>Columns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76272" y="223113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D389"/>
                </a:solidFill>
              </a:rPr>
              <a:t>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176272" y="2505456"/>
            <a:ext cx="841248" cy="0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834640"/>
            <a:ext cx="1170432" cy="914400"/>
          </a:xfrm>
          <a:prstGeom prst="roundRect">
            <a:avLst>
              <a:gd name="adj" fmla="val 14000"/>
            </a:avLst>
          </a:prstGeom>
          <a:solidFill>
            <a:srgbClr val="0D1526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9923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D3"/>
                </a:solidFill>
              </a:rPr>
              <a:t>Entities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2735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A5A"/>
                </a:solidFill>
              </a:rPr>
              <a:t>255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3547872"/>
            <a:ext cx="841248" cy="0"/>
          </a:xfrm>
          <a:prstGeom prst="line">
            <a:avLst/>
          </a:prstGeom>
          <a:noFill/>
          <a:ln w="25400">
            <a:solidFill>
              <a:srgbClr val="FF6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2834640"/>
            <a:ext cx="1170432" cy="914400"/>
          </a:xfrm>
          <a:prstGeom prst="roundRect">
            <a:avLst>
              <a:gd name="adj" fmla="val 14000"/>
            </a:avLst>
          </a:prstGeom>
          <a:solidFill>
            <a:srgbClr val="0D1526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299923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8D3"/>
                </a:solidFill>
              </a:rPr>
              <a:t>Countries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76272" y="32735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703"/>
                </a:solidFill>
              </a:rPr>
              <a:t>243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176272" y="3547872"/>
            <a:ext cx="841248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050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</a:rPr>
              <a:t>Latest data point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</a:rPr>
              <a:t>2024-08-14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</a:rPr>
              <a:t>Scope caveat: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</a:rPr>
              <a:t>this is reported confirmed case data, so interpretation should focus on burden and patterns rather than true infections.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21024" y="1225296"/>
            <a:ext cx="3090672" cy="1874520"/>
          </a:xfrm>
          <a:prstGeom prst="roundRect">
            <a:avLst>
              <a:gd name="adj" fmla="val 6829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</a:rPr>
              <a:t>Method choices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03904" y="181051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</a:rPr>
              <a:t>• Filtered to country rows when comparing locations.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03904" y="222199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</a:rPr>
              <a:t>• Used latest available record per country for rankings.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03904" y="263347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</a:rPr>
              <a:t>• Used log transform + Shapiro checks before correlation.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31152" y="1225296"/>
            <a:ext cx="4727448" cy="1874520"/>
          </a:xfrm>
          <a:prstGeom prst="roundRect">
            <a:avLst>
              <a:gd name="adj" fmla="val 6829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</a:rPr>
              <a:t>Structural view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50608" y="179222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8D3"/>
                </a:solidFill>
              </a:rPr>
              <a:t>A demographic cross-check shows that countries with older populations tend to exhibit higher deaths per million in the uploaded extract.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50608" y="2450592"/>
            <a:ext cx="2267712" cy="301752"/>
          </a:xfrm>
          <a:prstGeom prst="roundRect">
            <a:avLst>
              <a:gd name="adj" fmla="val 36364"/>
            </a:avLst>
          </a:prstGeom>
          <a:solidFill>
            <a:srgbClr val="5FA8FF"/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24688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 layer before deeper comparisons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21024" y="3401568"/>
            <a:ext cx="8037576" cy="2487168"/>
          </a:xfrm>
          <a:prstGeom prst="roundRect">
            <a:avLst>
              <a:gd name="adj" fmla="val 5147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pic>
        <p:nvPicPr>
          <p:cNvPr id="36" name="Image 0" descr="/mnt/data/covid_presentation_assets/age_vs_de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329" y="3529584"/>
            <a:ext cx="3733534" cy="2212848"/>
          </a:xfrm>
          <a:prstGeom prst="rect">
            <a:avLst/>
          </a:prstGeom>
        </p:spPr>
      </p:pic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trajectory over time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counts climb continuously, while new cases and deaths move in distinct waves.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55680" cy="0"/>
          </a:xfrm>
          <a:prstGeom prst="line">
            <a:avLst/>
          </a:prstGeom>
          <a:noFill/>
          <a:ln w="12700">
            <a:solidFill>
              <a:srgbClr val="223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25296"/>
            <a:ext cx="7699248" cy="4846320"/>
          </a:xfrm>
          <a:prstGeom prst="roundRect">
            <a:avLst>
              <a:gd name="adj" fmla="val 2642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pic>
        <p:nvPicPr>
          <p:cNvPr id="6" name="Image 0" descr="/mnt/data/covid_presentation_assets/global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80893"/>
            <a:ext cx="7406640" cy="41351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30768" y="1225296"/>
            <a:ext cx="3227832" cy="4846320"/>
          </a:xfrm>
          <a:prstGeom prst="roundRect">
            <a:avLst>
              <a:gd name="adj" fmla="val 3966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68512" y="14813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</a:rPr>
              <a:t>Key read-outs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68512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A5A"/>
                </a:solidFill>
              </a:rPr>
              <a:t>9.7%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668512" y="22860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8D3"/>
                </a:solidFill>
              </a:rPr>
              <a:t>of the world population appears in the dataset as confirmed cases.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68512" y="2880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703"/>
                </a:solidFill>
              </a:rPr>
              <a:t>44.2M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668512" y="3273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8D3"/>
                </a:solidFill>
              </a:rPr>
              <a:t>highest reported daily increase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8D3"/>
                </a:solidFill>
              </a:rPr>
              <a:t>(2022-12-25)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68512" y="4041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69"/>
                </a:solidFill>
              </a:rPr>
              <a:t>7.1M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668512" y="44256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8D3"/>
                </a:solidFill>
              </a:rPr>
              <a:t>global deaths accumulated more slowly than cases but remained substantial.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68512" y="5230368"/>
            <a:ext cx="1417320" cy="301752"/>
          </a:xfrm>
          <a:prstGeom prst="roundRect">
            <a:avLst>
              <a:gd name="adj" fmla="val 36364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68512" y="52486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Wave patterns matter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222992" y="5230368"/>
            <a:ext cx="1298448" cy="301752"/>
          </a:xfrm>
          <a:prstGeom prst="roundRect">
            <a:avLst>
              <a:gd name="adj" fmla="val 36364"/>
            </a:avLst>
          </a:prstGeom>
          <a:solidFill>
            <a:srgbClr val="5FA8FF"/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22992" y="524865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Use date filters in dashboard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Geographic concentration of burden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rankings and continent summaries show concentration, but mortality differs by region.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55680" cy="0"/>
          </a:xfrm>
          <a:prstGeom prst="line">
            <a:avLst/>
          </a:prstGeom>
          <a:noFill/>
          <a:ln w="12700">
            <a:solidFill>
              <a:srgbClr val="223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25296"/>
            <a:ext cx="5669280" cy="4315968"/>
          </a:xfrm>
          <a:prstGeom prst="roundRect">
            <a:avLst>
              <a:gd name="adj" fmla="val 2966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2512" y="1225296"/>
            <a:ext cx="5276088" cy="4315968"/>
          </a:xfrm>
          <a:prstGeom prst="roundRect">
            <a:avLst>
              <a:gd name="adj" fmla="val 2966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pic>
        <p:nvPicPr>
          <p:cNvPr id="7" name="Image 0" descr="/mnt/data/covid_presentation_assets/top_cou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29226"/>
            <a:ext cx="5321808" cy="3689820"/>
          </a:xfrm>
          <a:prstGeom prst="rect">
            <a:avLst/>
          </a:prstGeom>
        </p:spPr>
      </p:pic>
      <p:pic>
        <p:nvPicPr>
          <p:cNvPr id="8" name="Image 1" descr="/mnt/data/covid_presentation_assets/continent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016813"/>
            <a:ext cx="4983480" cy="271464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30352" y="5632704"/>
            <a:ext cx="11128248" cy="694944"/>
          </a:xfrm>
          <a:prstGeom prst="roundRect">
            <a:avLst>
              <a:gd name="adj" fmla="val 18421"/>
            </a:avLst>
          </a:prstGeom>
          <a:solidFill>
            <a:srgbClr val="0D1730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6384" y="582472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</a:rPr>
              <a:t>The United States ranks first in cumulative cases (103.4M), while Asia contributes the largest continental total. Mortality is highest in Africa (~1.97%) and lowest in Oceania (~0.22%).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Income segmentation and structural differences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grouping changes the scale of cases and the pattern of standardized indicators.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55680" cy="0"/>
          </a:xfrm>
          <a:prstGeom prst="line">
            <a:avLst/>
          </a:prstGeom>
          <a:noFill/>
          <a:ln w="12700">
            <a:solidFill>
              <a:srgbClr val="223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25296"/>
            <a:ext cx="4718304" cy="4480560"/>
          </a:xfrm>
          <a:prstGeom prst="roundRect">
            <a:avLst>
              <a:gd name="adj" fmla="val 2857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9824" y="1225296"/>
            <a:ext cx="6208776" cy="4480560"/>
          </a:xfrm>
          <a:prstGeom prst="roundRect">
            <a:avLst>
              <a:gd name="adj" fmla="val 2857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pic>
        <p:nvPicPr>
          <p:cNvPr id="7" name="Image 0" descr="/mnt/data/covid_presentation_assets/income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172696"/>
            <a:ext cx="4389120" cy="2585760"/>
          </a:xfrm>
          <a:prstGeom prst="rect">
            <a:avLst/>
          </a:prstGeom>
        </p:spPr>
      </p:pic>
      <p:pic>
        <p:nvPicPr>
          <p:cNvPr id="8" name="Image 1" descr="/mnt/data/covid_presentation_assets/income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1505218"/>
            <a:ext cx="5897880" cy="392071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30352" y="5742432"/>
            <a:ext cx="11128248" cy="566928"/>
          </a:xfrm>
          <a:prstGeom prst="roundRect">
            <a:avLst>
              <a:gd name="adj" fmla="val 22581"/>
            </a:avLst>
          </a:prstGeom>
          <a:solidFill>
            <a:srgbClr val="0D1730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" y="5907024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</a:rPr>
              <a:t>High-income countries dominate the cumulative case count (429.0M), while upper-middle-income countries form the second largest block (251.8M). The heatmap suggests meaningful differences in GDP, new cases, and new deaths across income tiers.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validation and correlation findings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Normality was rejected after log transformation, so the notebook correctly moved to Spearman correlation.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55680" cy="0"/>
          </a:xfrm>
          <a:prstGeom prst="line">
            <a:avLst/>
          </a:prstGeom>
          <a:noFill/>
          <a:ln w="12700">
            <a:solidFill>
              <a:srgbClr val="223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25296"/>
            <a:ext cx="6629400" cy="4754880"/>
          </a:xfrm>
          <a:prstGeom prst="roundRect">
            <a:avLst>
              <a:gd name="adj" fmla="val 2692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1225296"/>
            <a:ext cx="4297680" cy="2432304"/>
          </a:xfrm>
          <a:prstGeom prst="roundRect">
            <a:avLst>
              <a:gd name="adj" fmla="val 5263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3822192"/>
            <a:ext cx="4297680" cy="2487168"/>
          </a:xfrm>
          <a:prstGeom prst="roundRect">
            <a:avLst>
              <a:gd name="adj" fmla="val 5932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pic>
        <p:nvPicPr>
          <p:cNvPr id="8" name="Image 0" descr="/mnt/data/covid_presentation_assets/norm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384" y="1389888"/>
            <a:ext cx="4454767" cy="4425696"/>
          </a:xfrm>
          <a:prstGeom prst="rect">
            <a:avLst/>
          </a:prstGeom>
        </p:spPr>
      </p:pic>
      <p:pic>
        <p:nvPicPr>
          <p:cNvPr id="9" name="Image 1" descr="/mnt/data/covid_presentation_assets/spearm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622" y="1408176"/>
            <a:ext cx="2670276" cy="20848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7808" y="40416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589520" y="44256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</a:rPr>
              <a:t>• Vaccinations vs new cases: ρ = 0.546 (moderate positive).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589520" y="49194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</a:rPr>
              <a:t>• Vaccinations vs deaths: ρ = -0.059 (very weak negative).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589520" y="54132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</a:rPr>
              <a:t>• New cases vs deaths: ρ = 0.102 (weak positive).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89520" y="5862857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</a:rPr>
              <a:t>This pattern supports the notebook’s conclusion: timing, policy response, healthcare capacity, and lag effects all shape the relationships seen in aggregated COVID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analysis to dashboard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dataset can power an interactive Streamlit experience with filters, time windows, and country comparisons.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1155680" cy="0"/>
          </a:xfrm>
          <a:prstGeom prst="line">
            <a:avLst/>
          </a:prstGeom>
          <a:noFill/>
          <a:ln w="12700">
            <a:solidFill>
              <a:srgbClr val="223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25296"/>
            <a:ext cx="3931920" cy="4754880"/>
          </a:xfrm>
          <a:prstGeom prst="roundRect">
            <a:avLst>
              <a:gd name="adj" fmla="val 3256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5993" y="1444752"/>
            <a:ext cx="2208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</a:rPr>
              <a:t>Suggested dashboard 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190195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</a:rPr>
              <a:t>• Global KPI cards for cases, deaths, vaccinations, and daily change.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</a:rPr>
              <a:t>• Date-range picker to isolate any wave or policy period.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303580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</a:rPr>
              <a:t>• Country and continent filters to compare burden across regions.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360273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</a:rPr>
              <a:t>• Trend views, ranking tables, and correlation charts on one canvas.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4434840"/>
            <a:ext cx="3017520" cy="0"/>
          </a:xfrm>
          <a:prstGeom prst="line">
            <a:avLst/>
          </a:prstGeom>
          <a:noFill/>
          <a:ln w="19050">
            <a:solidFill>
              <a:srgbClr val="5FA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460857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8D3"/>
                </a:solidFill>
              </a:rPr>
              <a:t>Use this presentation as the narrative layer, and the Streamlit app as the exploration layer.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225296"/>
            <a:ext cx="6995160" cy="4754880"/>
          </a:xfrm>
          <a:prstGeom prst="roundRect">
            <a:avLst>
              <a:gd name="adj" fmla="val 2692"/>
            </a:avLst>
          </a:prstGeom>
          <a:solidFill>
            <a:srgbClr val="101A2E"/>
          </a:solidFill>
          <a:ln w="12700">
            <a:solidFill>
              <a:srgbClr val="2030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2624" y="1481328"/>
            <a:ext cx="658368" cy="301752"/>
          </a:xfrm>
          <a:prstGeom prst="roundRect">
            <a:avLst>
              <a:gd name="adj" fmla="val 36364"/>
            </a:avLst>
          </a:prstGeom>
          <a:solidFill>
            <a:srgbClr val="5FA8FF"/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49961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97296" y="1481328"/>
            <a:ext cx="768096" cy="301752"/>
          </a:xfrm>
          <a:prstGeom prst="roundRect">
            <a:avLst>
              <a:gd name="adj" fmla="val 36364"/>
            </a:avLst>
          </a:prstGeom>
          <a:solidFill>
            <a:srgbClr val="FF6A5A"/>
          </a:solidFill>
          <a:ln w="12700">
            <a:solidFill>
              <a:srgbClr val="FF6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7296" y="149961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Filters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481328"/>
            <a:ext cx="914400" cy="301752"/>
          </a:xfrm>
          <a:prstGeom prst="roundRect">
            <a:avLst>
              <a:gd name="adj" fmla="val 36364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14996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Rankings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90688" y="1481328"/>
            <a:ext cx="1115568" cy="301752"/>
          </a:xfrm>
          <a:prstGeom prst="roundRect">
            <a:avLst>
              <a:gd name="adj" fmla="val 36364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0688" y="1499616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Daily curve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1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7" name="Picture 26" descr="A map of the world&#10;&#10;AI-generated content may be incorrect.">
            <a:extLst>
              <a:ext uri="{FF2B5EF4-FFF2-40B4-BE49-F238E27FC236}">
                <a16:creationId xmlns:a16="http://schemas.microsoft.com/office/drawing/2014/main" id="{C458F4C4-B9B3-F6B5-58A4-68A4BDBB7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357171"/>
            <a:ext cx="5710596" cy="2580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755</Words>
  <Application>Microsoft Office PowerPoint</Application>
  <PresentationFormat>Widescreen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Global Case Study</dc:title>
  <dc:subject>COVID-19 case study</dc:subject>
  <dc:creator>OpenAI</dc:creator>
  <cp:lastModifiedBy>lusiwe cms</cp:lastModifiedBy>
  <cp:revision>3</cp:revision>
  <dcterms:created xsi:type="dcterms:W3CDTF">2026-03-09T13:10:01Z</dcterms:created>
  <dcterms:modified xsi:type="dcterms:W3CDTF">2026-03-09T13:44:04Z</dcterms:modified>
</cp:coreProperties>
</file>